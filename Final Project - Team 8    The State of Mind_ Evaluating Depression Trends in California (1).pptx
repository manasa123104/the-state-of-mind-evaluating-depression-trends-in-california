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Roboto" panose="02000000000000000000" pitchFamily="2" charset="0"/>
      <p:regular r:id="rId31"/>
      <p:bold r:id="rId32"/>
      <p:italic r:id="rId33"/>
      <p:boldItalic r:id="rId34"/>
    </p:embeddedFont>
    <p:embeddedFont>
      <p:font typeface="Roboto Slab" pitchFamily="2"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34CDC4E-68EE-4C08-AB4D-357BD2250478}">
  <a:tblStyle styleId="{234CDC4E-68EE-4C08-AB4D-357BD22504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cdc40b58d0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cdc40b58d0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cdc40b58d0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cdc40b58d0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ce65610b1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ce65610b1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ce1e6c90a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ce1e6c90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ce1e6c90a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ce1e6c90a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cecb0e794c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cecb0e794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ce1e6c90a3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ce1e6c90a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ce6a300004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ce6a30000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e6a30000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ce6a30000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ce1e6c90a3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ce1e6c90a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ce1e6c90a3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ce1e6c90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ce1e6c90a3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ce1e6c90a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ce1e6c90a3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ce1e6c90a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ce1e6c90a3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ce1e6c90a3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ce1e6c90a3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ce1e6c90a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ce65610b13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ce65610b1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ce65610b13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ce65610b13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ce1e6c90a3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ce1e6c90a3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ce1e6c90a3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ce1e6c90a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e65610b13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ce65610b13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ce6a300004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ce6a300004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ce1e6c90a3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ce1e6c90a3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ce1e6c90a3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ce1e6c90a3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ce1e6c90a3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ce1e6c90a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ce1e6c90a3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ce1e6c90a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ce1e6c90a3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ce1e6c90a3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ce1e6c90a3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ce1e6c90a3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565675" y="174375"/>
            <a:ext cx="8282400" cy="253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400">
                <a:latin typeface="Times New Roman"/>
                <a:ea typeface="Times New Roman"/>
                <a:cs typeface="Times New Roman"/>
                <a:sym typeface="Times New Roman"/>
              </a:rPr>
              <a:t>STAT 515 Final Project - Team 8</a:t>
            </a:r>
            <a:endParaRPr sz="2400">
              <a:latin typeface="Times New Roman"/>
              <a:ea typeface="Times New Roman"/>
              <a:cs typeface="Times New Roman"/>
              <a:sym typeface="Times New Roman"/>
            </a:endParaRPr>
          </a:p>
          <a:p>
            <a:pPr marL="0" lvl="0" indent="0" algn="ctr" rtl="0">
              <a:spcBef>
                <a:spcPts val="0"/>
              </a:spcBef>
              <a:spcAft>
                <a:spcPts val="0"/>
              </a:spcAft>
              <a:buSzPts val="990"/>
              <a:buNone/>
            </a:pPr>
            <a:endParaRPr sz="2400">
              <a:latin typeface="Times New Roman"/>
              <a:ea typeface="Times New Roman"/>
              <a:cs typeface="Times New Roman"/>
              <a:sym typeface="Times New Roman"/>
            </a:endParaRPr>
          </a:p>
          <a:p>
            <a:pPr marL="0" lvl="0" indent="0" algn="l" rtl="0">
              <a:spcBef>
                <a:spcPts val="0"/>
              </a:spcBef>
              <a:spcAft>
                <a:spcPts val="0"/>
              </a:spcAft>
              <a:buSzPts val="990"/>
              <a:buNone/>
            </a:pPr>
            <a:r>
              <a:rPr lang="en" sz="2400">
                <a:latin typeface="Times New Roman"/>
                <a:ea typeface="Times New Roman"/>
                <a:cs typeface="Times New Roman"/>
                <a:sym typeface="Times New Roman"/>
              </a:rPr>
              <a:t>  The State of Mind: Evaluating Depression Trends in California</a:t>
            </a:r>
            <a:endParaRPr sz="2400">
              <a:latin typeface="Times New Roman"/>
              <a:ea typeface="Times New Roman"/>
              <a:cs typeface="Times New Roman"/>
              <a:sym typeface="Times New Roman"/>
            </a:endParaRPr>
          </a:p>
          <a:p>
            <a:pPr marL="0" lvl="0" indent="0" algn="ctr" rtl="0">
              <a:spcBef>
                <a:spcPts val="0"/>
              </a:spcBef>
              <a:spcAft>
                <a:spcPts val="0"/>
              </a:spcAft>
              <a:buSzPts val="990"/>
              <a:buNone/>
            </a:pPr>
            <a:endParaRPr sz="1395">
              <a:latin typeface="Times New Roman"/>
              <a:ea typeface="Times New Roman"/>
              <a:cs typeface="Times New Roman"/>
              <a:sym typeface="Times New Roman"/>
            </a:endParaRPr>
          </a:p>
        </p:txBody>
      </p:sp>
      <p:sp>
        <p:nvSpPr>
          <p:cNvPr id="64" name="Google Shape;64;p13"/>
          <p:cNvSpPr txBox="1">
            <a:spLocks noGrp="1"/>
          </p:cNvSpPr>
          <p:nvPr>
            <p:ph type="subTitle" idx="1"/>
          </p:nvPr>
        </p:nvSpPr>
        <p:spPr>
          <a:xfrm>
            <a:off x="-1158025" y="3207750"/>
            <a:ext cx="8591400" cy="1582500"/>
          </a:xfrm>
          <a:prstGeom prst="rect">
            <a:avLst/>
          </a:prstGeom>
        </p:spPr>
        <p:txBody>
          <a:bodyPr spcFirstLastPara="1" wrap="square" lIns="91425" tIns="91425" rIns="91425" bIns="91425" anchor="t" anchorCtr="0">
            <a:normAutofit/>
          </a:bodyPr>
          <a:lstStyle/>
          <a:p>
            <a:pPr marL="0" lvl="0" indent="0" algn="ctr" rtl="0">
              <a:lnSpc>
                <a:spcPct val="80000"/>
              </a:lnSpc>
              <a:spcBef>
                <a:spcPts val="0"/>
              </a:spcBef>
              <a:spcAft>
                <a:spcPts val="0"/>
              </a:spcAft>
              <a:buSzPts val="852"/>
              <a:buNone/>
            </a:pPr>
            <a:r>
              <a:rPr lang="en" sz="1590" dirty="0">
                <a:latin typeface="Times New Roman"/>
                <a:ea typeface="Times New Roman"/>
                <a:cs typeface="Times New Roman"/>
                <a:sym typeface="Times New Roman"/>
              </a:rPr>
              <a:t>                                                                        Presented By, </a:t>
            </a:r>
            <a:endParaRPr sz="1590" dirty="0">
              <a:latin typeface="Times New Roman"/>
              <a:ea typeface="Times New Roman"/>
              <a:cs typeface="Times New Roman"/>
              <a:sym typeface="Times New Roman"/>
            </a:endParaRPr>
          </a:p>
          <a:p>
            <a:pPr marL="0" lvl="0" indent="0" algn="l" rtl="0">
              <a:spcBef>
                <a:spcPts val="0"/>
              </a:spcBef>
              <a:spcAft>
                <a:spcPts val="0"/>
              </a:spcAft>
              <a:buSzPts val="852"/>
              <a:buNone/>
            </a:pPr>
            <a:r>
              <a:rPr lang="en" sz="1590" dirty="0">
                <a:latin typeface="Times New Roman"/>
                <a:ea typeface="Times New Roman"/>
                <a:cs typeface="Times New Roman"/>
                <a:sym typeface="Times New Roman"/>
              </a:rPr>
              <a:t>                                                                                                           Venkata Naresh Kumar Singavarapu</a:t>
            </a:r>
            <a:endParaRPr sz="1590" dirty="0">
              <a:latin typeface="Times New Roman"/>
              <a:ea typeface="Times New Roman"/>
              <a:cs typeface="Times New Roman"/>
              <a:sym typeface="Times New Roman"/>
            </a:endParaRPr>
          </a:p>
          <a:p>
            <a:pPr marL="0" lvl="0" indent="0" algn="ctr" rtl="0">
              <a:spcBef>
                <a:spcPts val="0"/>
              </a:spcBef>
              <a:spcAft>
                <a:spcPts val="0"/>
              </a:spcAft>
              <a:buSzPts val="852"/>
              <a:buNone/>
            </a:pPr>
            <a:r>
              <a:rPr lang="en" sz="1590" dirty="0">
                <a:latin typeface="Times New Roman"/>
                <a:ea typeface="Times New Roman"/>
                <a:cs typeface="Times New Roman"/>
                <a:sym typeface="Times New Roman"/>
              </a:rPr>
              <a:t>                                                                                                  Manasa Rajagopal Madabushi</a:t>
            </a:r>
            <a:endParaRPr sz="1590" dirty="0">
              <a:latin typeface="Times New Roman"/>
              <a:ea typeface="Times New Roman"/>
              <a:cs typeface="Times New Roman"/>
              <a:sym typeface="Times New Roman"/>
            </a:endParaRPr>
          </a:p>
          <a:p>
            <a:pPr marL="0" lvl="0" indent="0" algn="ctr" rtl="0">
              <a:spcBef>
                <a:spcPts val="0"/>
              </a:spcBef>
              <a:spcAft>
                <a:spcPts val="0"/>
              </a:spcAft>
              <a:buSzPts val="852"/>
              <a:buNone/>
            </a:pPr>
            <a:r>
              <a:rPr lang="en" sz="1590" dirty="0">
                <a:latin typeface="Times New Roman"/>
                <a:ea typeface="Times New Roman"/>
                <a:cs typeface="Times New Roman"/>
                <a:sym typeface="Times New Roman"/>
              </a:rPr>
              <a:t>                                                                                      Vani Subadhra Yelleti</a:t>
            </a:r>
            <a:endParaRPr sz="1590" dirty="0">
              <a:latin typeface="Times New Roman"/>
              <a:ea typeface="Times New Roman"/>
              <a:cs typeface="Times New Roman"/>
              <a:sym typeface="Times New Roman"/>
            </a:endParaRPr>
          </a:p>
          <a:p>
            <a:pPr marL="0" lvl="0" indent="0" algn="ctr" rtl="0">
              <a:spcBef>
                <a:spcPts val="0"/>
              </a:spcBef>
              <a:spcAft>
                <a:spcPts val="0"/>
              </a:spcAft>
              <a:buSzPts val="852"/>
              <a:buNone/>
            </a:pPr>
            <a:r>
              <a:rPr lang="en" sz="1590">
                <a:latin typeface="Times New Roman"/>
                <a:ea typeface="Times New Roman"/>
                <a:cs typeface="Times New Roman"/>
                <a:sym typeface="Times New Roman"/>
              </a:rPr>
              <a:t>                                                                               Akshaya </a:t>
            </a:r>
            <a:r>
              <a:rPr lang="en" sz="1590" dirty="0">
                <a:latin typeface="Times New Roman"/>
                <a:ea typeface="Times New Roman"/>
                <a:cs typeface="Times New Roman"/>
                <a:sym typeface="Times New Roman"/>
              </a:rPr>
              <a:t>Arigela</a:t>
            </a:r>
            <a:endParaRPr sz="1590" dirty="0">
              <a:latin typeface="Times New Roman"/>
              <a:ea typeface="Times New Roman"/>
              <a:cs typeface="Times New Roman"/>
              <a:sym typeface="Times New Roman"/>
            </a:endParaRPr>
          </a:p>
          <a:p>
            <a:pPr marL="0" lvl="0" indent="0" algn="ctr" rtl="0">
              <a:lnSpc>
                <a:spcPct val="80000"/>
              </a:lnSpc>
              <a:spcBef>
                <a:spcPts val="0"/>
              </a:spcBef>
              <a:spcAft>
                <a:spcPts val="0"/>
              </a:spcAft>
              <a:buSzPts val="852"/>
              <a:buNone/>
            </a:pPr>
            <a:endParaRPr sz="1590" dirty="0">
              <a:latin typeface="Times New Roman"/>
              <a:ea typeface="Times New Roman"/>
              <a:cs typeface="Times New Roman"/>
              <a:sym typeface="Times New Roman"/>
            </a:endParaRPr>
          </a:p>
        </p:txBody>
      </p:sp>
      <p:sp>
        <p:nvSpPr>
          <p:cNvPr id="65" name="Google Shape;6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a:t>
            </a:fld>
            <a:endParaRPr>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THE DATA USED FOR THIS PROJECT:</a:t>
            </a:r>
            <a:endParaRPr sz="2700" b="1">
              <a:latin typeface="Times New Roman"/>
              <a:ea typeface="Times New Roman"/>
              <a:cs typeface="Times New Roman"/>
              <a:sym typeface="Times New Roman"/>
            </a:endParaRPr>
          </a:p>
        </p:txBody>
      </p:sp>
      <p:sp>
        <p:nvSpPr>
          <p:cNvPr id="71" name="Google Shape;71;p14"/>
          <p:cNvSpPr txBox="1">
            <a:spLocks noGrp="1"/>
          </p:cNvSpPr>
          <p:nvPr>
            <p:ph type="body" idx="1"/>
          </p:nvPr>
        </p:nvSpPr>
        <p:spPr>
          <a:xfrm>
            <a:off x="311700" y="1198900"/>
            <a:ext cx="8520600" cy="3642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275"/>
              <a:buNone/>
            </a:pPr>
            <a:r>
              <a:rPr lang="en" sz="1212">
                <a:latin typeface="Times New Roman"/>
                <a:ea typeface="Times New Roman"/>
                <a:cs typeface="Times New Roman"/>
                <a:sym typeface="Times New Roman"/>
              </a:rPr>
              <a:t>The source of the data:</a:t>
            </a: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12">
                <a:latin typeface="Times New Roman"/>
                <a:ea typeface="Times New Roman"/>
                <a:cs typeface="Times New Roman"/>
                <a:sym typeface="Times New Roman"/>
              </a:rPr>
              <a:t>California Department of Public Health. (2024, March 30). Adult Depression (LGHC Indicator). Retrieved from Let's Get Healthy California: https://letsgethealthy.ca.gov/goals/living-well/mental-health-and-well-being-reducing-adult-depression/</a:t>
            </a: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12">
                <a:latin typeface="Times New Roman"/>
                <a:ea typeface="Times New Roman"/>
                <a:cs typeface="Times New Roman"/>
                <a:sym typeface="Times New Roman"/>
              </a:rPr>
              <a:t>About the data:</a:t>
            </a: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12">
                <a:latin typeface="Times New Roman"/>
                <a:ea typeface="Times New Roman"/>
                <a:cs typeface="Times New Roman"/>
                <a:sym typeface="Times New Roman"/>
              </a:rPr>
              <a:t>This dataset represents the Adult Depression (LGHC Indicator) and shows the proportion of adults in California who were ever told they had a depressive disorder. Data was sourced from the California Behavioral Risk Factor Surveillance Survey (BRFSS) and collected by the Public Health Survey Research Program at California State University, Sacramento under contract with the CDPH. This indicator is drawn from the question about being informed by a health professional of having a depressive disorder, which includes conditions such as depression, major depression, dysthymia, or minor depression. Note that the data for the denominator and weighting come from the California Department of Finance, and therefore may differ from those published in national BRFSS data tables by the CDC or other federal agencies.</a:t>
            </a: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12">
                <a:latin typeface="Times New Roman"/>
                <a:ea typeface="Times New Roman"/>
                <a:cs typeface="Times New Roman"/>
                <a:sym typeface="Times New Roman"/>
              </a:rPr>
              <a:t>The dataset adult-depression-lghc-indicator-24.csv consists of 161 observations and 8 variables. </a:t>
            </a:r>
            <a:endParaRPr sz="1212">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endParaRPr sz="250"/>
          </a:p>
          <a:p>
            <a:pPr marL="0" lvl="0" indent="0" algn="l" rtl="0">
              <a:lnSpc>
                <a:spcPct val="95000"/>
              </a:lnSpc>
              <a:spcBef>
                <a:spcPts val="1200"/>
              </a:spcBef>
              <a:spcAft>
                <a:spcPts val="1200"/>
              </a:spcAft>
              <a:buSzPts val="275"/>
              <a:buNone/>
            </a:pPr>
            <a:endParaRPr sz="250"/>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a:t>
            </a:fld>
            <a:endParaRPr>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GOALS OF THIS PROJECT :</a:t>
            </a:r>
            <a:endParaRPr sz="2800" b="1">
              <a:latin typeface="Times New Roman"/>
              <a:ea typeface="Times New Roman"/>
              <a:cs typeface="Times New Roman"/>
              <a:sym typeface="Times New Roman"/>
            </a:endParaRPr>
          </a:p>
        </p:txBody>
      </p:sp>
      <p:sp>
        <p:nvSpPr>
          <p:cNvPr id="78" name="Google Shape;78;p15"/>
          <p:cNvSpPr txBox="1">
            <a:spLocks noGrp="1"/>
          </p:cNvSpPr>
          <p:nvPr>
            <p:ph type="body" idx="1"/>
          </p:nvPr>
        </p:nvSpPr>
        <p:spPr>
          <a:xfrm>
            <a:off x="261450" y="1354175"/>
            <a:ext cx="8520600" cy="326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latin typeface="Times New Roman"/>
                <a:ea typeface="Times New Roman"/>
                <a:cs typeface="Times New Roman"/>
                <a:sym typeface="Times New Roman"/>
              </a:rPr>
              <a:t>The goal is to evaluate the trends and factors associated with depression in the adult population of California.</a:t>
            </a:r>
            <a:endParaRPr sz="1400">
              <a:latin typeface="Times New Roman"/>
              <a:ea typeface="Times New Roman"/>
              <a:cs typeface="Times New Roman"/>
              <a:sym typeface="Times New Roman"/>
            </a:endParaRPr>
          </a:p>
          <a:p>
            <a:pPr marL="0" lvl="0" indent="0" algn="l" rtl="0">
              <a:spcBef>
                <a:spcPts val="1200"/>
              </a:spcBef>
              <a:spcAft>
                <a:spcPts val="0"/>
              </a:spcAft>
              <a:buNone/>
            </a:pPr>
            <a:r>
              <a:rPr lang="en" sz="1400">
                <a:latin typeface="Times New Roman"/>
                <a:ea typeface="Times New Roman"/>
                <a:cs typeface="Times New Roman"/>
                <a:sym typeface="Times New Roman"/>
              </a:rPr>
              <a:t>Questions to be answered in this project:</a:t>
            </a:r>
            <a:endParaRPr sz="1400">
              <a:latin typeface="Times New Roman"/>
              <a:ea typeface="Times New Roman"/>
              <a:cs typeface="Times New Roman"/>
              <a:sym typeface="Times New Roman"/>
            </a:endParaRPr>
          </a:p>
          <a:p>
            <a:pPr marL="457200" lvl="0" indent="-317500" algn="l" rtl="0">
              <a:spcBef>
                <a:spcPts val="1200"/>
              </a:spcBef>
              <a:spcAft>
                <a:spcPts val="0"/>
              </a:spcAft>
              <a:buSzPts val="1400"/>
              <a:buFont typeface="Times New Roman"/>
              <a:buChar char="➢"/>
            </a:pPr>
            <a:r>
              <a:rPr lang="en" sz="1400">
                <a:latin typeface="Times New Roman"/>
                <a:ea typeface="Times New Roman"/>
                <a:cs typeface="Times New Roman"/>
                <a:sym typeface="Times New Roman"/>
              </a:rPr>
              <a:t>What is the prevalence of reported depressive disorders among adults in California over the selected timeframe?</a:t>
            </a: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Which demographic variables (e.g., age, gender, income) are significantly associated with the incidence of depressive disorders?</a:t>
            </a: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How do depression rates vary across different regions within California?</a:t>
            </a: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Can we predict the likelihood of depressive disorder reports based on available demographic and regional data?</a:t>
            </a:r>
            <a:endParaRPr sz="1400">
              <a:latin typeface="Times New Roman"/>
              <a:ea typeface="Times New Roman"/>
              <a:cs typeface="Times New Roman"/>
              <a:sym typeface="Times New Roman"/>
            </a:endParaRPr>
          </a:p>
          <a:p>
            <a:pPr marL="457200" lvl="0" indent="0" algn="l" rtl="0">
              <a:spcBef>
                <a:spcPts val="1200"/>
              </a:spcBef>
              <a:spcAft>
                <a:spcPts val="0"/>
              </a:spcAft>
              <a:buNone/>
            </a:pPr>
            <a:endParaRPr sz="1400">
              <a:latin typeface="Times New Roman"/>
              <a:ea typeface="Times New Roman"/>
              <a:cs typeface="Times New Roman"/>
              <a:sym typeface="Times New Roman"/>
            </a:endParaRPr>
          </a:p>
          <a:p>
            <a:pPr marL="0" lvl="0" indent="0" algn="l" rtl="0">
              <a:spcBef>
                <a:spcPts val="1200"/>
              </a:spcBef>
              <a:spcAft>
                <a:spcPts val="0"/>
              </a:spcAft>
              <a:buNone/>
            </a:pPr>
            <a:endParaRPr sz="1400"/>
          </a:p>
          <a:p>
            <a:pPr marL="0" lvl="0" indent="0" algn="l" rtl="0">
              <a:spcBef>
                <a:spcPts val="1200"/>
              </a:spcBef>
              <a:spcAft>
                <a:spcPts val="1200"/>
              </a:spcAft>
              <a:buNone/>
            </a:pPr>
            <a:endParaRPr sz="1400"/>
          </a:p>
        </p:txBody>
      </p:sp>
      <p:sp>
        <p:nvSpPr>
          <p:cNvPr id="79" name="Google Shape;7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3</a:t>
            </a:fld>
            <a:endParaRPr>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215050" y="0"/>
            <a:ext cx="8617200" cy="110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GOALS OF THIS PROJECT :</a:t>
            </a:r>
            <a:endParaRPr sz="2800" b="1">
              <a:latin typeface="Times New Roman"/>
              <a:ea typeface="Times New Roman"/>
              <a:cs typeface="Times New Roman"/>
              <a:sym typeface="Times New Roman"/>
            </a:endParaRPr>
          </a:p>
        </p:txBody>
      </p:sp>
      <p:sp>
        <p:nvSpPr>
          <p:cNvPr id="85" name="Google Shape;85;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latin typeface="Times New Roman"/>
                <a:ea typeface="Times New Roman"/>
                <a:cs typeface="Times New Roman"/>
                <a:sym typeface="Times New Roman"/>
              </a:rPr>
              <a:t>Methods used to explore the data in this project are:</a:t>
            </a:r>
            <a:endParaRPr sz="1200">
              <a:latin typeface="Times New Roman"/>
              <a:ea typeface="Times New Roman"/>
              <a:cs typeface="Times New Roman"/>
              <a:sym typeface="Times New Roman"/>
            </a:endParaRPr>
          </a:p>
          <a:p>
            <a:pPr marL="457200" lvl="0" indent="-304800" algn="l" rtl="0">
              <a:spcBef>
                <a:spcPts val="1200"/>
              </a:spcBef>
              <a:spcAft>
                <a:spcPts val="0"/>
              </a:spcAft>
              <a:buSzPts val="1200"/>
              <a:buFont typeface="Times New Roman"/>
              <a:buChar char="➢"/>
            </a:pPr>
            <a:r>
              <a:rPr lang="en" sz="1200">
                <a:latin typeface="Times New Roman"/>
                <a:ea typeface="Times New Roman"/>
                <a:cs typeface="Times New Roman"/>
                <a:sym typeface="Times New Roman"/>
              </a:rPr>
              <a:t>Descriptive Analysis to summarize the main characteristics of the data and provide a clear picture of the population’s mental health status.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Regression Analysis to explore the relationships between demographic variables and depression rates.</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Principal Component Analysis enabled us to reduce the complexity of our dataset, focusing on the most significant variables influencing depression trends in California.</a:t>
            </a:r>
            <a:endParaRPr sz="1200">
              <a:latin typeface="Times New Roman"/>
              <a:ea typeface="Times New Roman"/>
              <a:cs typeface="Times New Roman"/>
              <a:sym typeface="Times New Roman"/>
            </a:endParaRPr>
          </a:p>
          <a:p>
            <a:pPr marL="457200" lvl="0" indent="-304800" algn="l" rtl="0">
              <a:spcBef>
                <a:spcPts val="0"/>
              </a:spcBef>
              <a:spcAft>
                <a:spcPts val="0"/>
              </a:spcAft>
              <a:buSzPts val="1200"/>
              <a:buFont typeface="Times New Roman"/>
              <a:buChar char="➢"/>
            </a:pPr>
            <a:r>
              <a:rPr lang="en" sz="1200">
                <a:latin typeface="Times New Roman"/>
                <a:ea typeface="Times New Roman"/>
                <a:cs typeface="Times New Roman"/>
                <a:sym typeface="Times New Roman"/>
              </a:rPr>
              <a:t>Hierarchical clustering using single, complete, and average linkage methods allowed us to identify and visualize distinct groups within the data, uncovering hidden patterns in depression rates across different demographics and regions of California.</a:t>
            </a:r>
            <a:endParaRPr sz="1200">
              <a:latin typeface="Times New Roman"/>
              <a:ea typeface="Times New Roman"/>
              <a:cs typeface="Times New Roman"/>
              <a:sym typeface="Times New Roman"/>
            </a:endParaRPr>
          </a:p>
        </p:txBody>
      </p:sp>
      <p:sp>
        <p:nvSpPr>
          <p:cNvPr id="86" name="Google Shape;8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4</a:t>
            </a:fld>
            <a:endParaRPr>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311700" y="220625"/>
            <a:ext cx="8520600" cy="8853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EXPLANATION OF THE DATASET WITH VARIABLES </a:t>
            </a:r>
            <a:endParaRPr b="1">
              <a:latin typeface="Times New Roman"/>
              <a:ea typeface="Times New Roman"/>
              <a:cs typeface="Times New Roman"/>
              <a:sym typeface="Times New Roman"/>
            </a:endParaRPr>
          </a:p>
        </p:txBody>
      </p:sp>
      <p:sp>
        <p:nvSpPr>
          <p:cNvPr id="92" name="Google Shape;92;p17"/>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The dataset titled `adult-depression-lghc-indicator-24.csv` likely includes variables that measure the prevalence and characteristics of depression among adults, structured for in-depth statistical analysis.</a:t>
            </a:r>
            <a:endParaRPr sz="1400">
              <a:latin typeface="Times New Roman"/>
              <a:ea typeface="Times New Roman"/>
              <a:cs typeface="Times New Roman"/>
              <a:sym typeface="Times New Roman"/>
            </a:endParaRPr>
          </a:p>
          <a:p>
            <a:pPr marL="457200" lvl="0" indent="0" algn="l" rtl="0">
              <a:spcBef>
                <a:spcPts val="1200"/>
              </a:spcBef>
              <a:spcAft>
                <a:spcPts val="0"/>
              </a:spcAft>
              <a:buNone/>
            </a:pPr>
            <a:endParaRPr sz="1400">
              <a:latin typeface="Times New Roman"/>
              <a:ea typeface="Times New Roman"/>
              <a:cs typeface="Times New Roman"/>
              <a:sym typeface="Times New Roman"/>
            </a:endParaRPr>
          </a:p>
          <a:p>
            <a:pPr marL="457200" lvl="0" indent="-317500" algn="l" rtl="0">
              <a:spcBef>
                <a:spcPts val="1200"/>
              </a:spcBef>
              <a:spcAft>
                <a:spcPts val="0"/>
              </a:spcAft>
              <a:buSzPts val="1400"/>
              <a:buFont typeface="Times New Roman"/>
              <a:buChar char="➢"/>
            </a:pPr>
            <a:r>
              <a:rPr lang="en" sz="1400">
                <a:latin typeface="Times New Roman"/>
                <a:ea typeface="Times New Roman"/>
                <a:cs typeface="Times New Roman"/>
                <a:sym typeface="Times New Roman"/>
              </a:rPr>
              <a:t>Key variables might encompass demographic details (age, sex, ethnicity), socioeconomic status (income, education), and health indicators (depression percentages), facilitating a nuanced exploration of factors influencing mental health outcomes.</a:t>
            </a:r>
            <a:endParaRPr sz="1400">
              <a:latin typeface="Times New Roman"/>
              <a:ea typeface="Times New Roman"/>
              <a:cs typeface="Times New Roman"/>
              <a:sym typeface="Times New Roman"/>
            </a:endParaRPr>
          </a:p>
          <a:p>
            <a:pPr marL="0" lvl="0" indent="0" algn="l" rtl="0">
              <a:spcBef>
                <a:spcPts val="0"/>
              </a:spcBef>
              <a:spcAft>
                <a:spcPts val="1200"/>
              </a:spcAft>
              <a:buNone/>
            </a:pPr>
            <a:endParaRPr/>
          </a:p>
        </p:txBody>
      </p:sp>
      <p:sp>
        <p:nvSpPr>
          <p:cNvPr id="93" name="Google Shape;9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5</a:t>
            </a:fld>
            <a:endParaRPr>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latin typeface="Times New Roman"/>
                <a:ea typeface="Times New Roman"/>
                <a:cs typeface="Times New Roman"/>
                <a:sym typeface="Times New Roman"/>
              </a:rPr>
              <a:t>DATASET</a:t>
            </a:r>
            <a:endParaRPr b="1">
              <a:latin typeface="Times New Roman"/>
              <a:ea typeface="Times New Roman"/>
              <a:cs typeface="Times New Roman"/>
              <a:sym typeface="Times New Roman"/>
            </a:endParaRPr>
          </a:p>
        </p:txBody>
      </p:sp>
      <p:pic>
        <p:nvPicPr>
          <p:cNvPr id="99" name="Google Shape;99;p18"/>
          <p:cNvPicPr preferRelativeResize="0"/>
          <p:nvPr/>
        </p:nvPicPr>
        <p:blipFill>
          <a:blip r:embed="rId3">
            <a:alphaModFix/>
          </a:blip>
          <a:stretch>
            <a:fillRect/>
          </a:stretch>
        </p:blipFill>
        <p:spPr>
          <a:xfrm>
            <a:off x="508875" y="1372088"/>
            <a:ext cx="8126251" cy="3293375"/>
          </a:xfrm>
          <a:prstGeom prst="rect">
            <a:avLst/>
          </a:prstGeom>
          <a:noFill/>
          <a:ln>
            <a:noFill/>
          </a:ln>
        </p:spPr>
      </p:pic>
      <p:sp>
        <p:nvSpPr>
          <p:cNvPr id="100" name="Google Shape;100;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6</a:t>
            </a:fld>
            <a:endParaRPr>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a:t>
            </a:r>
            <a:endParaRPr/>
          </a:p>
        </p:txBody>
      </p:sp>
      <p:sp>
        <p:nvSpPr>
          <p:cNvPr id="106" name="Google Shape;10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graphicFrame>
        <p:nvGraphicFramePr>
          <p:cNvPr id="107" name="Google Shape;107;p19"/>
          <p:cNvGraphicFramePr/>
          <p:nvPr/>
        </p:nvGraphicFramePr>
        <p:xfrm>
          <a:off x="656100" y="1371125"/>
          <a:ext cx="3000000" cy="3000000"/>
        </p:xfrm>
        <a:graphic>
          <a:graphicData uri="http://schemas.openxmlformats.org/drawingml/2006/table">
            <a:tbl>
              <a:tblPr>
                <a:noFill/>
                <a:tableStyleId>{234CDC4E-68EE-4C08-AB4D-357BD2250478}</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TABLE HEADER(COLUMN NAMES)</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DATATYPE</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Year</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Interval</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Strata</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Nominal</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Strata Name</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Nominal</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Frequency</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Ratio</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Weighted Frequency</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Ratio</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Percent</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Ratio</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Lower 95% CL</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Ratio</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Upper 95% CL</a:t>
                      </a:r>
                      <a:endParaRPr>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Ratio</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372500"/>
            <a:ext cx="8520600" cy="7512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SCATTERPLOT OF DEPRESSION OVER YEARS</a:t>
            </a:r>
            <a:endParaRPr sz="2700" b="1">
              <a:latin typeface="Times New Roman"/>
              <a:ea typeface="Times New Roman"/>
              <a:cs typeface="Times New Roman"/>
              <a:sym typeface="Times New Roman"/>
            </a:endParaRPr>
          </a:p>
        </p:txBody>
      </p:sp>
      <p:pic>
        <p:nvPicPr>
          <p:cNvPr id="113" name="Google Shape;113;p20"/>
          <p:cNvPicPr preferRelativeResize="0"/>
          <p:nvPr/>
        </p:nvPicPr>
        <p:blipFill>
          <a:blip r:embed="rId3">
            <a:alphaModFix/>
          </a:blip>
          <a:stretch>
            <a:fillRect/>
          </a:stretch>
        </p:blipFill>
        <p:spPr>
          <a:xfrm>
            <a:off x="1178200" y="1210875"/>
            <a:ext cx="6935151" cy="3774125"/>
          </a:xfrm>
          <a:prstGeom prst="rect">
            <a:avLst/>
          </a:prstGeom>
          <a:noFill/>
          <a:ln>
            <a:noFill/>
          </a:ln>
        </p:spPr>
      </p:pic>
      <p:sp>
        <p:nvSpPr>
          <p:cNvPr id="114" name="Google Shape;11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8</a:t>
            </a:fld>
            <a:endParaRPr>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0" y="186750"/>
            <a:ext cx="8713800" cy="110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BOXPLOT OF UPPER 95% CL by Strata Name</a:t>
            </a:r>
            <a:endParaRPr sz="2700" b="1">
              <a:latin typeface="Times New Roman"/>
              <a:ea typeface="Times New Roman"/>
              <a:cs typeface="Times New Roman"/>
              <a:sym typeface="Times New Roman"/>
            </a:endParaRPr>
          </a:p>
          <a:p>
            <a:pPr marL="0" lvl="0" indent="0" algn="l" rtl="0">
              <a:spcBef>
                <a:spcPts val="0"/>
              </a:spcBef>
              <a:spcAft>
                <a:spcPts val="0"/>
              </a:spcAft>
              <a:buNone/>
            </a:pPr>
            <a:endParaRPr/>
          </a:p>
        </p:txBody>
      </p:sp>
      <p:sp>
        <p:nvSpPr>
          <p:cNvPr id="120" name="Google Shape;120;p21"/>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1" name="Google Shape;121;p21"/>
          <p:cNvPicPr preferRelativeResize="0"/>
          <p:nvPr/>
        </p:nvPicPr>
        <p:blipFill>
          <a:blip r:embed="rId3">
            <a:alphaModFix/>
          </a:blip>
          <a:stretch>
            <a:fillRect/>
          </a:stretch>
        </p:blipFill>
        <p:spPr>
          <a:xfrm>
            <a:off x="311700" y="1292850"/>
            <a:ext cx="8520601" cy="3850650"/>
          </a:xfrm>
          <a:prstGeom prst="rect">
            <a:avLst/>
          </a:prstGeom>
          <a:noFill/>
          <a:ln>
            <a:noFill/>
          </a:ln>
        </p:spPr>
      </p:pic>
      <p:sp>
        <p:nvSpPr>
          <p:cNvPr id="122" name="Google Shape;12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9</a:t>
            </a:fld>
            <a:endParaRPr>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37813" y="134750"/>
            <a:ext cx="8520600" cy="901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BOXPLOT OF LOWER 95% CL by Strata Name</a:t>
            </a:r>
            <a:endParaRPr sz="2700" b="1">
              <a:latin typeface="Times New Roman"/>
              <a:ea typeface="Times New Roman"/>
              <a:cs typeface="Times New Roman"/>
              <a:sym typeface="Times New Roman"/>
            </a:endParaRPr>
          </a:p>
        </p:txBody>
      </p:sp>
      <p:pic>
        <p:nvPicPr>
          <p:cNvPr id="128" name="Google Shape;128;p22"/>
          <p:cNvPicPr preferRelativeResize="0"/>
          <p:nvPr/>
        </p:nvPicPr>
        <p:blipFill>
          <a:blip r:embed="rId3">
            <a:alphaModFix/>
          </a:blip>
          <a:stretch>
            <a:fillRect/>
          </a:stretch>
        </p:blipFill>
        <p:spPr>
          <a:xfrm>
            <a:off x="441700" y="1106000"/>
            <a:ext cx="8112824" cy="4025300"/>
          </a:xfrm>
          <a:prstGeom prst="rect">
            <a:avLst/>
          </a:prstGeom>
          <a:noFill/>
          <a:ln>
            <a:noFill/>
          </a:ln>
        </p:spPr>
      </p:pic>
      <p:sp>
        <p:nvSpPr>
          <p:cNvPr id="129" name="Google Shape;12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10</a:t>
            </a:fld>
            <a:endParaRPr>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118400" y="188350"/>
            <a:ext cx="8217300" cy="91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900" b="1">
                <a:latin typeface="Times New Roman"/>
                <a:ea typeface="Times New Roman"/>
                <a:cs typeface="Times New Roman"/>
                <a:sym typeface="Times New Roman"/>
              </a:rPr>
              <a:t>BOXPLOT OF PERCENT BY YEAR</a:t>
            </a:r>
            <a:endParaRPr sz="2900" b="1">
              <a:latin typeface="Times New Roman"/>
              <a:ea typeface="Times New Roman"/>
              <a:cs typeface="Times New Roman"/>
              <a:sym typeface="Times New Roman"/>
            </a:endParaRPr>
          </a:p>
        </p:txBody>
      </p:sp>
      <p:pic>
        <p:nvPicPr>
          <p:cNvPr id="135" name="Google Shape;135;p23"/>
          <p:cNvPicPr preferRelativeResize="0"/>
          <p:nvPr/>
        </p:nvPicPr>
        <p:blipFill>
          <a:blip r:embed="rId3">
            <a:alphaModFix/>
          </a:blip>
          <a:stretch>
            <a:fillRect/>
          </a:stretch>
        </p:blipFill>
        <p:spPr>
          <a:xfrm>
            <a:off x="1199825" y="1173700"/>
            <a:ext cx="7523324" cy="3878236"/>
          </a:xfrm>
          <a:prstGeom prst="rect">
            <a:avLst/>
          </a:prstGeom>
          <a:noFill/>
          <a:ln>
            <a:noFill/>
          </a:ln>
        </p:spPr>
      </p:pic>
      <p:sp>
        <p:nvSpPr>
          <p:cNvPr id="136" name="Google Shape;13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11</a:t>
            </a:fld>
            <a:endParaRPr>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156050"/>
            <a:ext cx="8460000" cy="95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2700" b="1">
                <a:latin typeface="Times New Roman"/>
                <a:ea typeface="Times New Roman"/>
                <a:cs typeface="Times New Roman"/>
                <a:sym typeface="Times New Roman"/>
              </a:rPr>
              <a:t>Scree plots showing how much variation each principal component captures from the data</a:t>
            </a:r>
            <a:endParaRPr sz="2700" b="1">
              <a:latin typeface="Times New Roman"/>
              <a:ea typeface="Times New Roman"/>
              <a:cs typeface="Times New Roman"/>
              <a:sym typeface="Times New Roman"/>
            </a:endParaRPr>
          </a:p>
        </p:txBody>
      </p:sp>
      <p:pic>
        <p:nvPicPr>
          <p:cNvPr id="142" name="Google Shape;142;p24"/>
          <p:cNvPicPr preferRelativeResize="0"/>
          <p:nvPr/>
        </p:nvPicPr>
        <p:blipFill>
          <a:blip r:embed="rId3">
            <a:alphaModFix/>
          </a:blip>
          <a:stretch>
            <a:fillRect/>
          </a:stretch>
        </p:blipFill>
        <p:spPr>
          <a:xfrm>
            <a:off x="1089925" y="1287374"/>
            <a:ext cx="7607474" cy="3615049"/>
          </a:xfrm>
          <a:prstGeom prst="rect">
            <a:avLst/>
          </a:prstGeom>
          <a:noFill/>
          <a:ln>
            <a:noFill/>
          </a:ln>
        </p:spPr>
      </p:pic>
      <p:sp>
        <p:nvSpPr>
          <p:cNvPr id="143" name="Google Shape;143;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12</a:t>
            </a:fld>
            <a:endParaRPr>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311700" y="0"/>
            <a:ext cx="8944200" cy="1173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Loading plots showing how each characteristic influences principal components (PCA)</a:t>
            </a:r>
            <a:endParaRPr sz="2500" b="1">
              <a:latin typeface="Times New Roman"/>
              <a:ea typeface="Times New Roman"/>
              <a:cs typeface="Times New Roman"/>
              <a:sym typeface="Times New Roman"/>
            </a:endParaRPr>
          </a:p>
        </p:txBody>
      </p:sp>
      <p:pic>
        <p:nvPicPr>
          <p:cNvPr id="149" name="Google Shape;149;p25"/>
          <p:cNvPicPr preferRelativeResize="0"/>
          <p:nvPr/>
        </p:nvPicPr>
        <p:blipFill>
          <a:blip r:embed="rId3">
            <a:alphaModFix/>
          </a:blip>
          <a:stretch>
            <a:fillRect/>
          </a:stretch>
        </p:blipFill>
        <p:spPr>
          <a:xfrm>
            <a:off x="1069375" y="1395451"/>
            <a:ext cx="7734500" cy="3727650"/>
          </a:xfrm>
          <a:prstGeom prst="rect">
            <a:avLst/>
          </a:prstGeom>
          <a:noFill/>
          <a:ln>
            <a:noFill/>
          </a:ln>
        </p:spPr>
      </p:pic>
      <p:sp>
        <p:nvSpPr>
          <p:cNvPr id="150" name="Google Shape;15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13</a:t>
            </a:fld>
            <a:endParaRPr>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276825" y="355075"/>
            <a:ext cx="6296700" cy="5586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SINGLE LINKAGE CLUSTER PLOT</a:t>
            </a:r>
            <a:endParaRPr b="1">
              <a:latin typeface="Times New Roman"/>
              <a:ea typeface="Times New Roman"/>
              <a:cs typeface="Times New Roman"/>
              <a:sym typeface="Times New Roman"/>
            </a:endParaRPr>
          </a:p>
        </p:txBody>
      </p:sp>
      <p:pic>
        <p:nvPicPr>
          <p:cNvPr id="156" name="Google Shape;156;p26"/>
          <p:cNvPicPr preferRelativeResize="0"/>
          <p:nvPr/>
        </p:nvPicPr>
        <p:blipFill>
          <a:blip r:embed="rId3">
            <a:alphaModFix/>
          </a:blip>
          <a:stretch>
            <a:fillRect/>
          </a:stretch>
        </p:blipFill>
        <p:spPr>
          <a:xfrm>
            <a:off x="1087025" y="1138300"/>
            <a:ext cx="7880325" cy="3796401"/>
          </a:xfrm>
          <a:prstGeom prst="rect">
            <a:avLst/>
          </a:prstGeom>
          <a:noFill/>
          <a:ln>
            <a:noFill/>
          </a:ln>
        </p:spPr>
      </p:pic>
      <p:sp>
        <p:nvSpPr>
          <p:cNvPr id="157" name="Google Shape;157;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14</a:t>
            </a:fld>
            <a:endParaRPr>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311700" y="188350"/>
            <a:ext cx="7927200" cy="662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COMPLETE LINKAGE CLUSTER PLOT</a:t>
            </a:r>
            <a:endParaRPr sz="2800" b="1">
              <a:latin typeface="Times New Roman"/>
              <a:ea typeface="Times New Roman"/>
              <a:cs typeface="Times New Roman"/>
              <a:sym typeface="Times New Roman"/>
            </a:endParaRPr>
          </a:p>
        </p:txBody>
      </p:sp>
      <p:pic>
        <p:nvPicPr>
          <p:cNvPr id="163" name="Google Shape;163;p27"/>
          <p:cNvPicPr preferRelativeResize="0"/>
          <p:nvPr/>
        </p:nvPicPr>
        <p:blipFill>
          <a:blip r:embed="rId3">
            <a:alphaModFix/>
          </a:blip>
          <a:stretch>
            <a:fillRect/>
          </a:stretch>
        </p:blipFill>
        <p:spPr>
          <a:xfrm>
            <a:off x="1091736" y="1313850"/>
            <a:ext cx="6960525" cy="3555200"/>
          </a:xfrm>
          <a:prstGeom prst="rect">
            <a:avLst/>
          </a:prstGeom>
          <a:noFill/>
          <a:ln>
            <a:noFill/>
          </a:ln>
        </p:spPr>
      </p:pic>
      <p:sp>
        <p:nvSpPr>
          <p:cNvPr id="164" name="Google Shape;164;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15</a:t>
            </a:fld>
            <a:endParaRPr>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title"/>
          </p:nvPr>
        </p:nvSpPr>
        <p:spPr>
          <a:xfrm>
            <a:off x="311700" y="372500"/>
            <a:ext cx="6587100" cy="655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AVERAGE LINKAGE CLUSTER PLOT</a:t>
            </a:r>
            <a:endParaRPr sz="2800" b="1">
              <a:latin typeface="Times New Roman"/>
              <a:ea typeface="Times New Roman"/>
              <a:cs typeface="Times New Roman"/>
              <a:sym typeface="Times New Roman"/>
            </a:endParaRPr>
          </a:p>
        </p:txBody>
      </p:sp>
      <p:pic>
        <p:nvPicPr>
          <p:cNvPr id="170" name="Google Shape;170;p28"/>
          <p:cNvPicPr preferRelativeResize="0"/>
          <p:nvPr/>
        </p:nvPicPr>
        <p:blipFill>
          <a:blip r:embed="rId3">
            <a:alphaModFix/>
          </a:blip>
          <a:stretch>
            <a:fillRect/>
          </a:stretch>
        </p:blipFill>
        <p:spPr>
          <a:xfrm>
            <a:off x="893300" y="1300450"/>
            <a:ext cx="7618350" cy="3682676"/>
          </a:xfrm>
          <a:prstGeom prst="rect">
            <a:avLst/>
          </a:prstGeom>
          <a:noFill/>
          <a:ln>
            <a:noFill/>
          </a:ln>
        </p:spPr>
      </p:pic>
      <p:sp>
        <p:nvSpPr>
          <p:cNvPr id="171" name="Google Shape;171;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16</a:t>
            </a:fld>
            <a:endParaRPr>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203425"/>
            <a:ext cx="8104800" cy="6471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MEAN DEPRESSION PERCENT OVER YEARS</a:t>
            </a:r>
            <a:endParaRPr b="1">
              <a:latin typeface="Times New Roman"/>
              <a:ea typeface="Times New Roman"/>
              <a:cs typeface="Times New Roman"/>
              <a:sym typeface="Times New Roman"/>
            </a:endParaRPr>
          </a:p>
        </p:txBody>
      </p:sp>
      <p:pic>
        <p:nvPicPr>
          <p:cNvPr id="177" name="Google Shape;177;p29"/>
          <p:cNvPicPr preferRelativeResize="0"/>
          <p:nvPr/>
        </p:nvPicPr>
        <p:blipFill>
          <a:blip r:embed="rId3">
            <a:alphaModFix/>
          </a:blip>
          <a:stretch>
            <a:fillRect/>
          </a:stretch>
        </p:blipFill>
        <p:spPr>
          <a:xfrm>
            <a:off x="618850" y="1389025"/>
            <a:ext cx="8104800" cy="3754400"/>
          </a:xfrm>
          <a:prstGeom prst="rect">
            <a:avLst/>
          </a:prstGeom>
          <a:noFill/>
          <a:ln>
            <a:noFill/>
          </a:ln>
        </p:spPr>
      </p:pic>
      <p:sp>
        <p:nvSpPr>
          <p:cNvPr id="178" name="Google Shape;178;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17</a:t>
            </a:fld>
            <a:endParaRPr>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30"/>
          <p:cNvPicPr preferRelativeResize="0"/>
          <p:nvPr/>
        </p:nvPicPr>
        <p:blipFill>
          <a:blip r:embed="rId3">
            <a:alphaModFix/>
          </a:blip>
          <a:stretch>
            <a:fillRect/>
          </a:stretch>
        </p:blipFill>
        <p:spPr>
          <a:xfrm>
            <a:off x="570425" y="1367900"/>
            <a:ext cx="8427200" cy="3663675"/>
          </a:xfrm>
          <a:prstGeom prst="rect">
            <a:avLst/>
          </a:prstGeom>
          <a:noFill/>
          <a:ln>
            <a:noFill/>
          </a:ln>
        </p:spPr>
      </p:pic>
      <p:sp>
        <p:nvSpPr>
          <p:cNvPr id="184" name="Google Shape;184;p30"/>
          <p:cNvSpPr txBox="1"/>
          <p:nvPr/>
        </p:nvSpPr>
        <p:spPr>
          <a:xfrm>
            <a:off x="279825" y="478950"/>
            <a:ext cx="7862100" cy="66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b="1">
                <a:solidFill>
                  <a:schemeClr val="dk1"/>
                </a:solidFill>
                <a:latin typeface="Times New Roman"/>
                <a:ea typeface="Times New Roman"/>
                <a:cs typeface="Times New Roman"/>
                <a:sym typeface="Times New Roman"/>
              </a:rPr>
              <a:t>MEDIAN DEPRESSION PERCENT OVER YEARS</a:t>
            </a:r>
            <a:endParaRPr sz="2600" b="1">
              <a:solidFill>
                <a:schemeClr val="dk1"/>
              </a:solidFill>
              <a:latin typeface="Times New Roman"/>
              <a:ea typeface="Times New Roman"/>
              <a:cs typeface="Times New Roman"/>
              <a:sym typeface="Times New Roman"/>
            </a:endParaRPr>
          </a:p>
        </p:txBody>
      </p:sp>
      <p:sp>
        <p:nvSpPr>
          <p:cNvPr id="185" name="Google Shape;185;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18</a:t>
            </a:fld>
            <a:endParaRPr>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1"/>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MODEL ANALYSIS(REGRESSION MODEL)</a:t>
            </a:r>
            <a:endParaRPr sz="2800" b="1">
              <a:latin typeface="Times New Roman"/>
              <a:ea typeface="Times New Roman"/>
              <a:cs typeface="Times New Roman"/>
              <a:sym typeface="Times New Roman"/>
            </a:endParaRPr>
          </a:p>
        </p:txBody>
      </p:sp>
      <p:sp>
        <p:nvSpPr>
          <p:cNvPr id="191" name="Google Shape;191;p31"/>
          <p:cNvSpPr txBox="1">
            <a:spLocks noGrp="1"/>
          </p:cNvSpPr>
          <p:nvPr>
            <p:ph type="body" idx="1"/>
          </p:nvPr>
        </p:nvSpPr>
        <p:spPr>
          <a:xfrm>
            <a:off x="311700" y="1311900"/>
            <a:ext cx="8520600" cy="35295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Targeted mental health interventions may be needed for certain demographic groups.</a:t>
            </a: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Continuous monitoring of depression trends is essential to evaluate the effectiveness of public health policies.</a:t>
            </a:r>
            <a:endParaRPr sz="140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Char char="➢"/>
            </a:pPr>
            <a:r>
              <a:rPr lang="en" sz="1400">
                <a:latin typeface="Times New Roman"/>
                <a:ea typeface="Times New Roman"/>
                <a:cs typeface="Times New Roman"/>
                <a:sym typeface="Times New Roman"/>
              </a:rPr>
              <a:t>Predict the prevalence of depressive disorders among adults in California.</a:t>
            </a:r>
            <a:endParaRPr sz="1400">
              <a:latin typeface="Times New Roman"/>
              <a:ea typeface="Times New Roman"/>
              <a:cs typeface="Times New Roman"/>
              <a:sym typeface="Times New Roman"/>
            </a:endParaRPr>
          </a:p>
          <a:p>
            <a:pPr marL="0" lvl="0" indent="0" algn="l" rtl="0">
              <a:spcBef>
                <a:spcPts val="1200"/>
              </a:spcBef>
              <a:spcAft>
                <a:spcPts val="1200"/>
              </a:spcAft>
              <a:buNone/>
            </a:pPr>
            <a:endParaRPr/>
          </a:p>
        </p:txBody>
      </p:sp>
      <p:pic>
        <p:nvPicPr>
          <p:cNvPr id="192" name="Google Shape;192;p31"/>
          <p:cNvPicPr preferRelativeResize="0"/>
          <p:nvPr/>
        </p:nvPicPr>
        <p:blipFill>
          <a:blip r:embed="rId3">
            <a:alphaModFix/>
          </a:blip>
          <a:stretch>
            <a:fillRect/>
          </a:stretch>
        </p:blipFill>
        <p:spPr>
          <a:xfrm>
            <a:off x="5121775" y="2510175"/>
            <a:ext cx="3512951" cy="2633325"/>
          </a:xfrm>
          <a:prstGeom prst="rect">
            <a:avLst/>
          </a:prstGeom>
          <a:noFill/>
          <a:ln>
            <a:noFill/>
          </a:ln>
        </p:spPr>
      </p:pic>
      <p:sp>
        <p:nvSpPr>
          <p:cNvPr id="193" name="Google Shape;19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19</a:t>
            </a:fld>
            <a:endParaRPr>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LINEAR REGRESSION</a:t>
            </a:r>
            <a:endParaRPr sz="2800" b="1">
              <a:latin typeface="Times New Roman"/>
              <a:ea typeface="Times New Roman"/>
              <a:cs typeface="Times New Roman"/>
              <a:sym typeface="Times New Roman"/>
            </a:endParaRPr>
          </a:p>
        </p:txBody>
      </p:sp>
      <p:sp>
        <p:nvSpPr>
          <p:cNvPr id="199" name="Google Shape;199;p32"/>
          <p:cNvSpPr txBox="1">
            <a:spLocks noGrp="1"/>
          </p:cNvSpPr>
          <p:nvPr>
            <p:ph type="body" idx="1"/>
          </p:nvPr>
        </p:nvSpPr>
        <p:spPr>
          <a:xfrm>
            <a:off x="85650" y="1339675"/>
            <a:ext cx="8520600" cy="3099900"/>
          </a:xfrm>
          <a:prstGeom prst="rect">
            <a:avLst/>
          </a:prstGeom>
        </p:spPr>
        <p:txBody>
          <a:bodyPr spcFirstLastPara="1" wrap="square" lIns="91425" tIns="91425" rIns="91425" bIns="91425" anchor="ctr" anchorCtr="0">
            <a:normAutofit/>
          </a:bodyPr>
          <a:lstStyle/>
          <a:p>
            <a:pPr marL="457200" lvl="0" indent="-323850" algn="l" rtl="0">
              <a:lnSpc>
                <a:spcPct val="100000"/>
              </a:lnSpc>
              <a:spcBef>
                <a:spcPts val="0"/>
              </a:spcBef>
              <a:spcAft>
                <a:spcPts val="0"/>
              </a:spcAft>
              <a:buSzPts val="1500"/>
              <a:buFont typeface="Times New Roman"/>
              <a:buChar char="➢"/>
            </a:pPr>
            <a:r>
              <a:rPr lang="en" sz="1500">
                <a:latin typeface="Times New Roman"/>
                <a:ea typeface="Times New Roman"/>
                <a:cs typeface="Times New Roman"/>
                <a:sym typeface="Times New Roman"/>
              </a:rPr>
              <a:t>Linear regression is a statistical method </a:t>
            </a:r>
            <a:endParaRPr sz="1500">
              <a:latin typeface="Times New Roman"/>
              <a:ea typeface="Times New Roman"/>
              <a:cs typeface="Times New Roman"/>
              <a:sym typeface="Times New Roman"/>
            </a:endParaRPr>
          </a:p>
          <a:p>
            <a:pPr marL="457200" lvl="0" indent="0" algn="l" rtl="0">
              <a:lnSpc>
                <a:spcPct val="100000"/>
              </a:lnSpc>
              <a:spcBef>
                <a:spcPts val="1200"/>
              </a:spcBef>
              <a:spcAft>
                <a:spcPts val="0"/>
              </a:spcAft>
              <a:buNone/>
            </a:pPr>
            <a:r>
              <a:rPr lang="en" sz="1500">
                <a:latin typeface="Times New Roman"/>
                <a:ea typeface="Times New Roman"/>
                <a:cs typeface="Times New Roman"/>
                <a:sym typeface="Times New Roman"/>
              </a:rPr>
              <a:t>used to model the relationship between a </a:t>
            </a:r>
            <a:endParaRPr sz="1500">
              <a:latin typeface="Times New Roman"/>
              <a:ea typeface="Times New Roman"/>
              <a:cs typeface="Times New Roman"/>
              <a:sym typeface="Times New Roman"/>
            </a:endParaRPr>
          </a:p>
          <a:p>
            <a:pPr marL="457200" lvl="0" indent="0" algn="l" rtl="0">
              <a:lnSpc>
                <a:spcPct val="100000"/>
              </a:lnSpc>
              <a:spcBef>
                <a:spcPts val="1200"/>
              </a:spcBef>
              <a:spcAft>
                <a:spcPts val="0"/>
              </a:spcAft>
              <a:buNone/>
            </a:pPr>
            <a:r>
              <a:rPr lang="en" sz="1500">
                <a:latin typeface="Times New Roman"/>
                <a:ea typeface="Times New Roman"/>
                <a:cs typeface="Times New Roman"/>
                <a:sym typeface="Times New Roman"/>
              </a:rPr>
              <a:t>dependent variable and one or more independent </a:t>
            </a:r>
            <a:endParaRPr sz="1500">
              <a:latin typeface="Times New Roman"/>
              <a:ea typeface="Times New Roman"/>
              <a:cs typeface="Times New Roman"/>
              <a:sym typeface="Times New Roman"/>
            </a:endParaRPr>
          </a:p>
          <a:p>
            <a:pPr marL="457200" lvl="0" indent="0" algn="l" rtl="0">
              <a:lnSpc>
                <a:spcPct val="100000"/>
              </a:lnSpc>
              <a:spcBef>
                <a:spcPts val="1200"/>
              </a:spcBef>
              <a:spcAft>
                <a:spcPts val="1200"/>
              </a:spcAft>
              <a:buNone/>
            </a:pPr>
            <a:r>
              <a:rPr lang="en" sz="1500">
                <a:latin typeface="Times New Roman"/>
                <a:ea typeface="Times New Roman"/>
                <a:cs typeface="Times New Roman"/>
                <a:sym typeface="Times New Roman"/>
              </a:rPr>
              <a:t>variables. </a:t>
            </a:r>
            <a:endParaRPr sz="1500">
              <a:latin typeface="Times New Roman"/>
              <a:ea typeface="Times New Roman"/>
              <a:cs typeface="Times New Roman"/>
              <a:sym typeface="Times New Roman"/>
            </a:endParaRPr>
          </a:p>
        </p:txBody>
      </p:sp>
      <p:pic>
        <p:nvPicPr>
          <p:cNvPr id="200" name="Google Shape;200;p32"/>
          <p:cNvPicPr preferRelativeResize="0"/>
          <p:nvPr/>
        </p:nvPicPr>
        <p:blipFill>
          <a:blip r:embed="rId3">
            <a:alphaModFix/>
          </a:blip>
          <a:stretch>
            <a:fillRect/>
          </a:stretch>
        </p:blipFill>
        <p:spPr>
          <a:xfrm>
            <a:off x="4482225" y="436500"/>
            <a:ext cx="4661776" cy="4270500"/>
          </a:xfrm>
          <a:prstGeom prst="rect">
            <a:avLst/>
          </a:prstGeom>
          <a:noFill/>
          <a:ln>
            <a:noFill/>
          </a:ln>
        </p:spPr>
      </p:pic>
      <p:sp>
        <p:nvSpPr>
          <p:cNvPr id="201" name="Google Shape;201;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20</a:t>
            </a:fld>
            <a:endParaRPr>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ADJUSTED MODEL LINEAR</a:t>
            </a:r>
            <a:endParaRPr sz="2800" b="1">
              <a:latin typeface="Times New Roman"/>
              <a:ea typeface="Times New Roman"/>
              <a:cs typeface="Times New Roman"/>
              <a:sym typeface="Times New Roman"/>
            </a:endParaRPr>
          </a:p>
        </p:txBody>
      </p:sp>
      <p:sp>
        <p:nvSpPr>
          <p:cNvPr id="207" name="Google Shape;207;p33"/>
          <p:cNvSpPr txBox="1">
            <a:spLocks noGrp="1"/>
          </p:cNvSpPr>
          <p:nvPr>
            <p:ph type="body" idx="1"/>
          </p:nvPr>
        </p:nvSpPr>
        <p:spPr>
          <a:xfrm>
            <a:off x="4782800" y="1380850"/>
            <a:ext cx="4260300" cy="1685100"/>
          </a:xfrm>
          <a:prstGeom prst="rect">
            <a:avLst/>
          </a:prstGeom>
        </p:spPr>
        <p:txBody>
          <a:bodyPr spcFirstLastPara="1" wrap="square" lIns="91425" tIns="91425" rIns="91425" bIns="91425" anchor="b" anchorCtr="0">
            <a:normAutofit/>
          </a:bodyPr>
          <a:lstStyle/>
          <a:p>
            <a:pPr marL="457200" lvl="0" indent="-342900" algn="just" rtl="0">
              <a:spcBef>
                <a:spcPts val="0"/>
              </a:spcBef>
              <a:spcAft>
                <a:spcPts val="0"/>
              </a:spcAft>
              <a:buSzPts val="1800"/>
              <a:buFont typeface="Times New Roman"/>
              <a:buChar char="➢"/>
            </a:pPr>
            <a:r>
              <a:rPr lang="en" sz="1500">
                <a:latin typeface="Times New Roman"/>
                <a:ea typeface="Times New Roman"/>
                <a:cs typeface="Times New Roman"/>
                <a:sym typeface="Times New Roman"/>
              </a:rPr>
              <a:t>An "adjusted model" in linear regression is a refined version of the statistical model that controls for various variables to provide a more precise analysis of the data</a:t>
            </a:r>
            <a:r>
              <a:rPr lang="en">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pic>
        <p:nvPicPr>
          <p:cNvPr id="208" name="Google Shape;208;p33"/>
          <p:cNvPicPr preferRelativeResize="0"/>
          <p:nvPr/>
        </p:nvPicPr>
        <p:blipFill>
          <a:blip r:embed="rId3">
            <a:alphaModFix/>
          </a:blip>
          <a:stretch>
            <a:fillRect/>
          </a:stretch>
        </p:blipFill>
        <p:spPr>
          <a:xfrm>
            <a:off x="311700" y="1106000"/>
            <a:ext cx="4471101" cy="3933251"/>
          </a:xfrm>
          <a:prstGeom prst="rect">
            <a:avLst/>
          </a:prstGeom>
          <a:noFill/>
          <a:ln>
            <a:noFill/>
          </a:ln>
        </p:spPr>
      </p:pic>
      <p:sp>
        <p:nvSpPr>
          <p:cNvPr id="209" name="Google Shape;209;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21</a:t>
            </a:fld>
            <a:endParaRPr>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b="1">
                <a:latin typeface="Times New Roman"/>
                <a:ea typeface="Times New Roman"/>
                <a:cs typeface="Times New Roman"/>
                <a:sym typeface="Times New Roman"/>
              </a:rPr>
              <a:t>LASSO MODEL</a:t>
            </a:r>
            <a:endParaRPr sz="2800" b="1">
              <a:latin typeface="Times New Roman"/>
              <a:ea typeface="Times New Roman"/>
              <a:cs typeface="Times New Roman"/>
              <a:sym typeface="Times New Roman"/>
            </a:endParaRPr>
          </a:p>
        </p:txBody>
      </p:sp>
      <p:sp>
        <p:nvSpPr>
          <p:cNvPr id="215" name="Google Shape;215;p34"/>
          <p:cNvSpPr txBox="1">
            <a:spLocks noGrp="1"/>
          </p:cNvSpPr>
          <p:nvPr>
            <p:ph type="body" idx="1"/>
          </p:nvPr>
        </p:nvSpPr>
        <p:spPr>
          <a:xfrm>
            <a:off x="387900" y="1458775"/>
            <a:ext cx="8368200" cy="3110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latin typeface="Times New Roman"/>
              <a:ea typeface="Times New Roman"/>
              <a:cs typeface="Times New Roman"/>
              <a:sym typeface="Times New Roman"/>
            </a:endParaRPr>
          </a:p>
          <a:p>
            <a:pPr marL="457200" lvl="0" indent="-323850" algn="l" rtl="0">
              <a:spcBef>
                <a:spcPts val="1200"/>
              </a:spcBef>
              <a:spcAft>
                <a:spcPts val="0"/>
              </a:spcAft>
              <a:buSzPts val="1500"/>
              <a:buFont typeface="Times New Roman"/>
              <a:buChar char="➢"/>
            </a:pPr>
            <a:r>
              <a:rPr lang="en" sz="1500">
                <a:latin typeface="Times New Roman"/>
                <a:ea typeface="Times New Roman"/>
                <a:cs typeface="Times New Roman"/>
                <a:sym typeface="Times New Roman"/>
              </a:rPr>
              <a:t>To mitigate multicollinearity, we consolidated variables such as occupation titles with region types, which streamlined the feature set for more effective lasso regression application.</a:t>
            </a:r>
            <a:endParaRPr sz="1500">
              <a:latin typeface="Times New Roman"/>
              <a:ea typeface="Times New Roman"/>
              <a:cs typeface="Times New Roman"/>
              <a:sym typeface="Times New Roman"/>
            </a:endParaRPr>
          </a:p>
          <a:p>
            <a:pPr marL="457200" lvl="0" indent="-323850" algn="l" rtl="0">
              <a:spcBef>
                <a:spcPts val="0"/>
              </a:spcBef>
              <a:spcAft>
                <a:spcPts val="0"/>
              </a:spcAft>
              <a:buSzPts val="1500"/>
              <a:buFont typeface="Times New Roman"/>
              <a:buChar char="➢"/>
            </a:pPr>
            <a:r>
              <a:rPr lang="en" sz="1500">
                <a:latin typeface="Times New Roman"/>
                <a:ea typeface="Times New Roman"/>
                <a:cs typeface="Times New Roman"/>
                <a:sym typeface="Times New Roman"/>
              </a:rPr>
              <a:t>Lasso regression tackles multicollinearity by applying a penalty that compresses the size of coefficients corresponding to collinear predictors, thus enhancing model reliability.</a:t>
            </a:r>
            <a:endParaRPr sz="1500">
              <a:latin typeface="Times New Roman"/>
              <a:ea typeface="Times New Roman"/>
              <a:cs typeface="Times New Roman"/>
              <a:sym typeface="Times New Roman"/>
            </a:endParaRPr>
          </a:p>
          <a:p>
            <a:pPr marL="457200" lvl="0" indent="-323850" algn="l" rtl="0">
              <a:spcBef>
                <a:spcPts val="0"/>
              </a:spcBef>
              <a:spcAft>
                <a:spcPts val="0"/>
              </a:spcAft>
              <a:buSzPts val="1500"/>
              <a:buFont typeface="Times New Roman"/>
              <a:buChar char="➢"/>
            </a:pPr>
            <a:r>
              <a:rPr lang="en" sz="1500">
                <a:latin typeface="Times New Roman"/>
                <a:ea typeface="Times New Roman"/>
                <a:cs typeface="Times New Roman"/>
                <a:sym typeface="Times New Roman"/>
              </a:rPr>
              <a:t>Utilizing K-Fold cross-validation helps pinpoint the most suitable penalty strength to optimize model performance by reducing the Mean Squared Error (MSE).</a:t>
            </a:r>
            <a:endParaRPr sz="1500">
              <a:latin typeface="Times New Roman"/>
              <a:ea typeface="Times New Roman"/>
              <a:cs typeface="Times New Roman"/>
              <a:sym typeface="Times New Roman"/>
            </a:endParaRPr>
          </a:p>
          <a:p>
            <a:pPr marL="457200" lvl="0" indent="0" algn="l" rtl="0">
              <a:spcBef>
                <a:spcPts val="1200"/>
              </a:spcBef>
              <a:spcAft>
                <a:spcPts val="1200"/>
              </a:spcAft>
              <a:buNone/>
            </a:pPr>
            <a:endParaRPr>
              <a:latin typeface="Times New Roman"/>
              <a:ea typeface="Times New Roman"/>
              <a:cs typeface="Times New Roman"/>
              <a:sym typeface="Times New Roman"/>
            </a:endParaRPr>
          </a:p>
        </p:txBody>
      </p:sp>
      <p:sp>
        <p:nvSpPr>
          <p:cNvPr id="216" name="Google Shape;216;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22</a:t>
            </a:fld>
            <a:endParaRPr>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LASSO MODEL </a:t>
            </a:r>
            <a:endParaRPr sz="2900" b="1">
              <a:latin typeface="Times New Roman"/>
              <a:ea typeface="Times New Roman"/>
              <a:cs typeface="Times New Roman"/>
              <a:sym typeface="Times New Roman"/>
            </a:endParaRPr>
          </a:p>
        </p:txBody>
      </p:sp>
      <p:pic>
        <p:nvPicPr>
          <p:cNvPr id="222" name="Google Shape;222;p35"/>
          <p:cNvPicPr preferRelativeResize="0"/>
          <p:nvPr/>
        </p:nvPicPr>
        <p:blipFill>
          <a:blip r:embed="rId3">
            <a:alphaModFix/>
          </a:blip>
          <a:stretch>
            <a:fillRect/>
          </a:stretch>
        </p:blipFill>
        <p:spPr>
          <a:xfrm>
            <a:off x="196100" y="3896000"/>
            <a:ext cx="5600700" cy="876300"/>
          </a:xfrm>
          <a:prstGeom prst="rect">
            <a:avLst/>
          </a:prstGeom>
          <a:noFill/>
          <a:ln>
            <a:noFill/>
          </a:ln>
        </p:spPr>
      </p:pic>
      <p:pic>
        <p:nvPicPr>
          <p:cNvPr id="223" name="Google Shape;223;p35"/>
          <p:cNvPicPr preferRelativeResize="0"/>
          <p:nvPr/>
        </p:nvPicPr>
        <p:blipFill>
          <a:blip r:embed="rId4">
            <a:alphaModFix/>
          </a:blip>
          <a:stretch>
            <a:fillRect/>
          </a:stretch>
        </p:blipFill>
        <p:spPr>
          <a:xfrm>
            <a:off x="305775" y="2612927"/>
            <a:ext cx="4529924" cy="1082850"/>
          </a:xfrm>
          <a:prstGeom prst="rect">
            <a:avLst/>
          </a:prstGeom>
          <a:noFill/>
          <a:ln>
            <a:noFill/>
          </a:ln>
        </p:spPr>
      </p:pic>
      <p:sp>
        <p:nvSpPr>
          <p:cNvPr id="224" name="Google Shape;224;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23</a:t>
            </a:fld>
            <a:endParaRPr>
              <a:solidFill>
                <a:schemeClr val="dk1"/>
              </a:solidFill>
              <a:latin typeface="Roboto"/>
              <a:ea typeface="Roboto"/>
              <a:cs typeface="Roboto"/>
              <a:sym typeface="Roboto"/>
            </a:endParaRPr>
          </a:p>
        </p:txBody>
      </p:sp>
      <p:pic>
        <p:nvPicPr>
          <p:cNvPr id="225" name="Google Shape;225;p35"/>
          <p:cNvPicPr preferRelativeResize="0"/>
          <p:nvPr/>
        </p:nvPicPr>
        <p:blipFill>
          <a:blip r:embed="rId5">
            <a:alphaModFix/>
          </a:blip>
          <a:stretch>
            <a:fillRect/>
          </a:stretch>
        </p:blipFill>
        <p:spPr>
          <a:xfrm>
            <a:off x="305775" y="1337087"/>
            <a:ext cx="6771901" cy="1082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Times New Roman"/>
                <a:ea typeface="Times New Roman"/>
                <a:cs typeface="Times New Roman"/>
                <a:sym typeface="Times New Roman"/>
              </a:rPr>
              <a:t>AVERAGE ANALYSIS</a:t>
            </a:r>
            <a:endParaRPr sz="2800" b="1">
              <a:latin typeface="Times New Roman"/>
              <a:ea typeface="Times New Roman"/>
              <a:cs typeface="Times New Roman"/>
              <a:sym typeface="Times New Roman"/>
            </a:endParaRPr>
          </a:p>
        </p:txBody>
      </p:sp>
      <p:pic>
        <p:nvPicPr>
          <p:cNvPr id="231" name="Google Shape;231;p36"/>
          <p:cNvPicPr preferRelativeResize="0"/>
          <p:nvPr/>
        </p:nvPicPr>
        <p:blipFill>
          <a:blip r:embed="rId3">
            <a:alphaModFix/>
          </a:blip>
          <a:stretch>
            <a:fillRect/>
          </a:stretch>
        </p:blipFill>
        <p:spPr>
          <a:xfrm>
            <a:off x="1828575" y="2379812"/>
            <a:ext cx="5276850" cy="1386800"/>
          </a:xfrm>
          <a:prstGeom prst="rect">
            <a:avLst/>
          </a:prstGeom>
          <a:noFill/>
          <a:ln>
            <a:noFill/>
          </a:ln>
        </p:spPr>
      </p:pic>
      <p:sp>
        <p:nvSpPr>
          <p:cNvPr id="232" name="Google Shape;232;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24</a:t>
            </a:fld>
            <a:endParaRPr>
              <a:solidFill>
                <a:schemeClr val="dk1"/>
              </a:solidFill>
              <a:latin typeface="Roboto"/>
              <a:ea typeface="Roboto"/>
              <a:cs typeface="Roboto"/>
              <a:sym typeface="Roboto"/>
            </a:endParaRPr>
          </a:p>
        </p:txBody>
      </p:sp>
      <p:sp>
        <p:nvSpPr>
          <p:cNvPr id="233" name="Google Shape;233;p36"/>
          <p:cNvSpPr txBox="1"/>
          <p:nvPr/>
        </p:nvSpPr>
        <p:spPr>
          <a:xfrm>
            <a:off x="448075" y="1368600"/>
            <a:ext cx="7619400" cy="14994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rgbClr val="ECECEC"/>
              </a:buClr>
              <a:buSzPts val="1400"/>
              <a:buFont typeface="Times New Roman"/>
              <a:buChar char="➢"/>
            </a:pPr>
            <a:r>
              <a:rPr lang="en" sz="1300">
                <a:solidFill>
                  <a:srgbClr val="ECECEC"/>
                </a:solidFill>
                <a:latin typeface="Times New Roman"/>
                <a:ea typeface="Times New Roman"/>
                <a:cs typeface="Times New Roman"/>
                <a:sym typeface="Times New Roman"/>
              </a:rPr>
              <a:t>A</a:t>
            </a:r>
            <a:r>
              <a:rPr lang="en" sz="1600">
                <a:solidFill>
                  <a:srgbClr val="ECECEC"/>
                </a:solidFill>
                <a:latin typeface="Times New Roman"/>
                <a:ea typeface="Times New Roman"/>
                <a:cs typeface="Times New Roman"/>
                <a:sym typeface="Times New Roman"/>
              </a:rPr>
              <a:t>verage Analysis refers to the process of calculating the mean performance metric (such as accuracy) across all folds of cross-validation.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10-FOLD CROSS VALIDATION</a:t>
            </a:r>
            <a:endParaRPr sz="2700" b="1">
              <a:latin typeface="Times New Roman"/>
              <a:ea typeface="Times New Roman"/>
              <a:cs typeface="Times New Roman"/>
              <a:sym typeface="Times New Roman"/>
            </a:endParaRPr>
          </a:p>
        </p:txBody>
      </p:sp>
      <p:pic>
        <p:nvPicPr>
          <p:cNvPr id="239" name="Google Shape;239;p37"/>
          <p:cNvPicPr preferRelativeResize="0"/>
          <p:nvPr/>
        </p:nvPicPr>
        <p:blipFill>
          <a:blip r:embed="rId3">
            <a:alphaModFix/>
          </a:blip>
          <a:stretch>
            <a:fillRect/>
          </a:stretch>
        </p:blipFill>
        <p:spPr>
          <a:xfrm>
            <a:off x="1393775" y="1508875"/>
            <a:ext cx="6980676" cy="3232100"/>
          </a:xfrm>
          <a:prstGeom prst="rect">
            <a:avLst/>
          </a:prstGeom>
          <a:noFill/>
          <a:ln>
            <a:noFill/>
          </a:ln>
        </p:spPr>
      </p:pic>
      <p:sp>
        <p:nvSpPr>
          <p:cNvPr id="240" name="Google Shape;24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25</a:t>
            </a:fld>
            <a:endParaRPr>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CROSS VALIDATION R-Squared vs Log(Lambda)</a:t>
            </a:r>
            <a:endParaRPr sz="2700" b="1">
              <a:latin typeface="Times New Roman"/>
              <a:ea typeface="Times New Roman"/>
              <a:cs typeface="Times New Roman"/>
              <a:sym typeface="Times New Roman"/>
            </a:endParaRPr>
          </a:p>
        </p:txBody>
      </p:sp>
      <p:pic>
        <p:nvPicPr>
          <p:cNvPr id="246" name="Google Shape;246;p38"/>
          <p:cNvPicPr preferRelativeResize="0"/>
          <p:nvPr/>
        </p:nvPicPr>
        <p:blipFill>
          <a:blip r:embed="rId3">
            <a:alphaModFix/>
          </a:blip>
          <a:stretch>
            <a:fillRect/>
          </a:stretch>
        </p:blipFill>
        <p:spPr>
          <a:xfrm>
            <a:off x="1296900" y="1106000"/>
            <a:ext cx="7119526" cy="3943100"/>
          </a:xfrm>
          <a:prstGeom prst="rect">
            <a:avLst/>
          </a:prstGeom>
          <a:noFill/>
          <a:ln>
            <a:noFill/>
          </a:ln>
        </p:spPr>
      </p:pic>
      <p:sp>
        <p:nvSpPr>
          <p:cNvPr id="247" name="Google Shape;24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26</a:t>
            </a:fld>
            <a:endParaRPr>
              <a:solidFill>
                <a:schemeClr val="dk1"/>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700" b="1">
                <a:latin typeface="Times New Roman"/>
                <a:ea typeface="Times New Roman"/>
                <a:cs typeface="Times New Roman"/>
                <a:sym typeface="Times New Roman"/>
              </a:rPr>
              <a:t>FUTURE WORK</a:t>
            </a:r>
            <a:endParaRPr sz="2700" b="1">
              <a:latin typeface="Times New Roman"/>
              <a:ea typeface="Times New Roman"/>
              <a:cs typeface="Times New Roman"/>
              <a:sym typeface="Times New Roman"/>
            </a:endParaRPr>
          </a:p>
        </p:txBody>
      </p:sp>
      <p:sp>
        <p:nvSpPr>
          <p:cNvPr id="253" name="Google Shape;253;p39"/>
          <p:cNvSpPr txBox="1">
            <a:spLocks noGrp="1"/>
          </p:cNvSpPr>
          <p:nvPr>
            <p:ph type="body" idx="1"/>
          </p:nvPr>
        </p:nvSpPr>
        <p:spPr>
          <a:xfrm>
            <a:off x="387900" y="1276825"/>
            <a:ext cx="8368200" cy="3529500"/>
          </a:xfrm>
          <a:prstGeom prst="rect">
            <a:avLst/>
          </a:prstGeom>
        </p:spPr>
        <p:txBody>
          <a:bodyPr spcFirstLastPara="1" wrap="square" lIns="91425" tIns="91425" rIns="91425" bIns="91425" anchor="t" anchorCtr="0">
            <a:normAutofit fontScale="25000"/>
          </a:bodyPr>
          <a:lstStyle/>
          <a:p>
            <a:pPr marL="457200" lvl="0" indent="-318293" algn="l" rtl="0">
              <a:spcBef>
                <a:spcPts val="0"/>
              </a:spcBef>
              <a:spcAft>
                <a:spcPts val="0"/>
              </a:spcAft>
              <a:buSzPct val="100000"/>
              <a:buFont typeface="Times New Roman"/>
              <a:buChar char="➢"/>
            </a:pPr>
            <a:r>
              <a:rPr lang="en" sz="5650">
                <a:latin typeface="Times New Roman"/>
                <a:ea typeface="Times New Roman"/>
                <a:cs typeface="Times New Roman"/>
                <a:sym typeface="Times New Roman"/>
              </a:rPr>
              <a:t>Employ Bayesian hierarchical models to analyze the variability in depression rates across different demographics and regions. This method allows for incorporating prior knowledge and uncertainty in estimates, which is particularly useful in complex datasets where parameters vary significantly across groups.</a:t>
            </a:r>
            <a:endParaRPr sz="5650">
              <a:latin typeface="Times New Roman"/>
              <a:ea typeface="Times New Roman"/>
              <a:cs typeface="Times New Roman"/>
              <a:sym typeface="Times New Roman"/>
            </a:endParaRPr>
          </a:p>
          <a:p>
            <a:pPr marL="457200" lvl="0" indent="-318293" algn="l" rtl="0">
              <a:spcBef>
                <a:spcPts val="0"/>
              </a:spcBef>
              <a:spcAft>
                <a:spcPts val="0"/>
              </a:spcAft>
              <a:buSzPct val="100000"/>
              <a:buFont typeface="Times New Roman"/>
              <a:buChar char="➢"/>
            </a:pPr>
            <a:r>
              <a:rPr lang="en" sz="5650">
                <a:latin typeface="Times New Roman"/>
                <a:ea typeface="Times New Roman"/>
                <a:cs typeface="Times New Roman"/>
                <a:sym typeface="Times New Roman"/>
              </a:rPr>
              <a:t>Enhancing the lasso regression approach by normalizing the dataset could refine feature selection and coefficient reduction, thereby improving model precision.</a:t>
            </a:r>
            <a:endParaRPr sz="5650">
              <a:latin typeface="Times New Roman"/>
              <a:ea typeface="Times New Roman"/>
              <a:cs typeface="Times New Roman"/>
              <a:sym typeface="Times New Roman"/>
            </a:endParaRPr>
          </a:p>
          <a:p>
            <a:pPr marL="457200" lvl="0" indent="-318293" algn="l" rtl="0">
              <a:spcBef>
                <a:spcPts val="0"/>
              </a:spcBef>
              <a:spcAft>
                <a:spcPts val="0"/>
              </a:spcAft>
              <a:buSzPct val="100000"/>
              <a:buFont typeface="Times New Roman"/>
              <a:buChar char="➢"/>
            </a:pPr>
            <a:r>
              <a:rPr lang="en" sz="5650">
                <a:latin typeface="Times New Roman"/>
                <a:ea typeface="Times New Roman"/>
                <a:cs typeface="Times New Roman"/>
                <a:sym typeface="Times New Roman"/>
              </a:rPr>
              <a:t>A detailed residual examination is advised to identify and correct any discrepancies within the model, which entails analyzing residual distribution and pinpointing outliers or influential data points.</a:t>
            </a:r>
            <a:endParaRPr sz="5650">
              <a:latin typeface="Times New Roman"/>
              <a:ea typeface="Times New Roman"/>
              <a:cs typeface="Times New Roman"/>
              <a:sym typeface="Times New Roman"/>
            </a:endParaRPr>
          </a:p>
          <a:p>
            <a:pPr marL="457200" lvl="0" indent="-318293" algn="l" rtl="0">
              <a:spcBef>
                <a:spcPts val="0"/>
              </a:spcBef>
              <a:spcAft>
                <a:spcPts val="0"/>
              </a:spcAft>
              <a:buSzPct val="100000"/>
              <a:buFont typeface="Times New Roman"/>
              <a:buChar char="➢"/>
            </a:pPr>
            <a:r>
              <a:rPr lang="en" sz="5650">
                <a:latin typeface="Times New Roman"/>
                <a:ea typeface="Times New Roman"/>
                <a:cs typeface="Times New Roman"/>
                <a:sym typeface="Times New Roman"/>
              </a:rPr>
              <a:t>Implementing a Bayesian approach to logistic regression may yield a more nuanced understanding of model parameters and predictions, allowing for probabilistic and more accessible interpretations.</a:t>
            </a:r>
            <a:endParaRPr sz="5650">
              <a:latin typeface="Times New Roman"/>
              <a:ea typeface="Times New Roman"/>
              <a:cs typeface="Times New Roman"/>
              <a:sym typeface="Times New Roman"/>
            </a:endParaRPr>
          </a:p>
          <a:p>
            <a:pPr marL="457200" lvl="0" indent="0" algn="l" rtl="0">
              <a:spcBef>
                <a:spcPts val="1200"/>
              </a:spcBef>
              <a:spcAft>
                <a:spcPts val="0"/>
              </a:spcAft>
              <a:buNone/>
            </a:pPr>
            <a:endParaRPr sz="5650">
              <a:latin typeface="Times New Roman"/>
              <a:ea typeface="Times New Roman"/>
              <a:cs typeface="Times New Roman"/>
              <a:sym typeface="Times New Roman"/>
            </a:endParaRPr>
          </a:p>
          <a:p>
            <a:pPr marL="457200" lvl="0" indent="0" algn="l" rtl="0">
              <a:spcBef>
                <a:spcPts val="1200"/>
              </a:spcBef>
              <a:spcAft>
                <a:spcPts val="1200"/>
              </a:spcAft>
              <a:buNone/>
            </a:pPr>
            <a:endParaRPr/>
          </a:p>
        </p:txBody>
      </p:sp>
      <p:sp>
        <p:nvSpPr>
          <p:cNvPr id="254" name="Google Shape;254;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27</a:t>
            </a:fld>
            <a:endParaRPr>
              <a:solidFill>
                <a:schemeClr val="dk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0"/>
          <p:cNvSpPr txBox="1">
            <a:spLocks noGrp="1"/>
          </p:cNvSpPr>
          <p:nvPr>
            <p:ph type="body" idx="4294967295"/>
          </p:nvPr>
        </p:nvSpPr>
        <p:spPr>
          <a:xfrm>
            <a:off x="311700" y="1468825"/>
            <a:ext cx="8520600" cy="3099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800">
                <a:latin typeface="Times New Roman"/>
                <a:ea typeface="Times New Roman"/>
                <a:cs typeface="Times New Roman"/>
                <a:sym typeface="Times New Roman"/>
              </a:rPr>
              <a:t>          </a:t>
            </a:r>
            <a:r>
              <a:rPr lang="en" sz="3200" b="1">
                <a:latin typeface="Times New Roman"/>
                <a:ea typeface="Times New Roman"/>
                <a:cs typeface="Times New Roman"/>
                <a:sym typeface="Times New Roman"/>
              </a:rPr>
              <a:t>                   </a:t>
            </a:r>
            <a:endParaRPr sz="3500" b="1">
              <a:latin typeface="Times New Roman"/>
              <a:ea typeface="Times New Roman"/>
              <a:cs typeface="Times New Roman"/>
              <a:sym typeface="Times New Roman"/>
            </a:endParaRPr>
          </a:p>
          <a:p>
            <a:pPr marL="0" lvl="0" indent="0" algn="just" rtl="0">
              <a:spcBef>
                <a:spcPts val="1200"/>
              </a:spcBef>
              <a:spcAft>
                <a:spcPts val="1200"/>
              </a:spcAft>
              <a:buNone/>
            </a:pPr>
            <a:r>
              <a:rPr lang="en" sz="3500" b="1">
                <a:latin typeface="Times New Roman"/>
                <a:ea typeface="Times New Roman"/>
                <a:cs typeface="Times New Roman"/>
                <a:sym typeface="Times New Roman"/>
              </a:rPr>
              <a:t>                         THANK YOU</a:t>
            </a:r>
            <a:endParaRPr sz="3500" b="1">
              <a:latin typeface="Times New Roman"/>
              <a:ea typeface="Times New Roman"/>
              <a:cs typeface="Times New Roman"/>
              <a:sym typeface="Times New Roman"/>
            </a:endParaRPr>
          </a:p>
        </p:txBody>
      </p:sp>
      <p:sp>
        <p:nvSpPr>
          <p:cNvPr id="260" name="Google Shape;260;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solidFill>
                  <a:schemeClr val="dk1"/>
                </a:solidFill>
                <a:latin typeface="Roboto"/>
                <a:ea typeface="Roboto"/>
                <a:cs typeface="Roboto"/>
                <a:sym typeface="Roboto"/>
              </a:rPr>
              <a:t>28</a:t>
            </a:fld>
            <a:endParaRPr>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1009</Words>
  <Application>Microsoft Office PowerPoint</Application>
  <PresentationFormat>On-screen Show (16:9)</PresentationFormat>
  <Paragraphs>121</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Roboto</vt:lpstr>
      <vt:lpstr>Arial</vt:lpstr>
      <vt:lpstr>Times New Roman</vt:lpstr>
      <vt:lpstr>Roboto Slab</vt:lpstr>
      <vt:lpstr>Marina</vt:lpstr>
      <vt:lpstr>STAT 515 Final Project - Team 8    The State of Mind: Evaluating Depression Trends in California </vt:lpstr>
      <vt:lpstr>THE DATA USED FOR THIS PROJECT:</vt:lpstr>
      <vt:lpstr>GOALS OF THIS PROJECT :</vt:lpstr>
      <vt:lpstr>GOALS OF THIS PROJECT :</vt:lpstr>
      <vt:lpstr>EXPLANATION OF THE DATASET WITH VARIABLES </vt:lpstr>
      <vt:lpstr>DATASET</vt:lpstr>
      <vt:lpstr>DATASET</vt:lpstr>
      <vt:lpstr>SCATTERPLOT OF DEPRESSION OVER YEARS</vt:lpstr>
      <vt:lpstr>BOXPLOT OF UPPER 95% CL by Strata Name </vt:lpstr>
      <vt:lpstr>BOXPLOT OF LOWER 95% CL by Strata Name</vt:lpstr>
      <vt:lpstr>BOXPLOT OF PERCENT BY YEAR</vt:lpstr>
      <vt:lpstr>Scree plots showing how much variation each principal component captures from the data</vt:lpstr>
      <vt:lpstr>Loading plots showing how each characteristic influences principal components (PCA)</vt:lpstr>
      <vt:lpstr>SINGLE LINKAGE CLUSTER PLOT</vt:lpstr>
      <vt:lpstr>COMPLETE LINKAGE CLUSTER PLOT</vt:lpstr>
      <vt:lpstr>AVERAGE LINKAGE CLUSTER PLOT</vt:lpstr>
      <vt:lpstr>MEAN DEPRESSION PERCENT OVER YEARS</vt:lpstr>
      <vt:lpstr>PowerPoint Presentation</vt:lpstr>
      <vt:lpstr>MODEL ANALYSIS(REGRESSION MODEL)</vt:lpstr>
      <vt:lpstr>LINEAR REGRESSION</vt:lpstr>
      <vt:lpstr>ADJUSTED MODEL LINEAR</vt:lpstr>
      <vt:lpstr>LASSO MODEL</vt:lpstr>
      <vt:lpstr>LASSO MODEL </vt:lpstr>
      <vt:lpstr>AVERAGE ANALYSIS</vt:lpstr>
      <vt:lpstr>10-FOLD CROSS VALIDATION</vt:lpstr>
      <vt:lpstr>CROSS VALIDATION R-Squared vs Log(Lambda)</vt:lpstr>
      <vt:lpstr>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515 Final Project - Team 8    The State of Mind: Evaluating Depression Trends in California </dc:title>
  <cp:lastModifiedBy>MANASA RAJAGOPAL MADABUSHI</cp:lastModifiedBy>
  <cp:revision>1</cp:revision>
  <dcterms:modified xsi:type="dcterms:W3CDTF">2024-04-23T04:01:02Z</dcterms:modified>
</cp:coreProperties>
</file>